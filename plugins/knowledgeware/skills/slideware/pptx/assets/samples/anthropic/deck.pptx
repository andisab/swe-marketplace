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57"/>
                </a:solidFill>
                <a:latin typeface="Anthropic Sans" pitchFamily="34" charset="0"/>
                <a:ea typeface="Anthropic Sans" pitchFamily="34" charset="-122"/>
                <a:cs typeface="Anthropic Sans" pitchFamily="34" charset="-120"/>
              </a:rPr>
              <a:t>FIELD NOTES ·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200" dirty="0">
                <a:solidFill>
                  <a:srgbClr val="141413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On the slow work</a:t>
            </a:r>
            <a:endParaRPr lang="en-US" sz="4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200" dirty="0">
                <a:solidFill>
                  <a:srgbClr val="141413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of making AI useful.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E5D59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Notes from twelve months building tools alongside engineering teams.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D59"/>
                </a:solidFill>
                <a:latin typeface="Anthropic Sans" pitchFamily="34" charset="0"/>
                <a:ea typeface="Anthropic Sans" pitchFamily="34" charset="-122"/>
                <a:cs typeface="Anthropic Sans" pitchFamily="34" charset="-120"/>
              </a:rPr>
              <a:t>Field Notes · Spring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57"/>
                </a:solidFill>
                <a:latin typeface="Anthropic Sans" pitchFamily="34" charset="0"/>
                <a:ea typeface="Anthropic Sans" pitchFamily="34" charset="-122"/>
                <a:cs typeface="Anthropic Sans" pitchFamily="34" charset="-120"/>
              </a:rPr>
              <a:t>OPENING · OBSERVATION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D59"/>
                </a:solidFill>
                <a:latin typeface="Anthropic Sans" pitchFamily="34" charset="0"/>
                <a:ea typeface="Anthropic Sans" pitchFamily="34" charset="-122"/>
                <a:cs typeface="Anthropic Sans" pitchFamily="34" charset="-120"/>
              </a:rPr>
              <a:t>2 / 6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28016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i="1" dirty="0">
                <a:solidFill>
                  <a:srgbClr val="141413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The hardest problems aren't about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i="1" dirty="0">
                <a:solidFill>
                  <a:srgbClr val="141413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making models smarter. They're about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i="1" dirty="0">
                <a:solidFill>
                  <a:srgbClr val="141413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building the rails to use them safely.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1463040" y="3794760"/>
            <a:ext cx="548640" cy="19202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7" name="Text 4"/>
          <p:cNvSpPr/>
          <p:nvPr/>
        </p:nvSpPr>
        <p:spPr>
          <a:xfrm>
            <a:off x="1463040" y="3931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E5D59"/>
                </a:solidFill>
                <a:latin typeface="Anthropic Sans" pitchFamily="34" charset="0"/>
                <a:ea typeface="Anthropic Sans" pitchFamily="34" charset="-122"/>
                <a:cs typeface="Anthropic Sans" pitchFamily="34" charset="-120"/>
              </a:rPr>
              <a:t>Jasmine R., Platform Architect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E5D59"/>
                </a:solidFill>
                <a:latin typeface="Anthropic Sans" pitchFamily="34" charset="0"/>
                <a:ea typeface="Anthropic Sans" pitchFamily="34" charset="-122"/>
                <a:cs typeface="Anthropic Sans" pitchFamily="34" charset="-120"/>
              </a:rPr>
              <a:t>Field interview · 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57"/>
                </a:solidFill>
                <a:latin typeface="Anthropic Sans" pitchFamily="34" charset="0"/>
                <a:ea typeface="Anthropic Sans" pitchFamily="34" charset="-122"/>
                <a:cs typeface="Anthropic Sans" pitchFamily="34" charset="-120"/>
              </a:rPr>
              <a:t>FIELD DATA · ADOPTION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D59"/>
                </a:solidFill>
                <a:latin typeface="Anthropic Sans" pitchFamily="34" charset="0"/>
                <a:ea typeface="Anthropic Sans" pitchFamily="34" charset="-122"/>
                <a:cs typeface="Anthropic Sans" pitchFamily="34" charset="-120"/>
              </a:rPr>
              <a:t>3 /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1413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By the numbers.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5D59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From twelve teams over twelve months.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D97757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12</a:t>
            </a:r>
            <a:endParaRPr lang="en-US" sz="9000" dirty="0"/>
          </a:p>
        </p:txBody>
      </p:sp>
      <p:sp>
        <p:nvSpPr>
          <p:cNvPr id="7" name="Shape 5"/>
          <p:cNvSpPr/>
          <p:nvPr/>
        </p:nvSpPr>
        <p:spPr>
          <a:xfrm>
            <a:off x="1463040" y="3611880"/>
            <a:ext cx="914400" cy="6401"/>
          </a:xfrm>
          <a:prstGeom prst="rect">
            <a:avLst/>
          </a:prstGeom>
          <a:solidFill>
            <a:srgbClr val="E0DCD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703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E5D59"/>
                </a:solidFill>
                <a:latin typeface="Anthropic Sans" pitchFamily="34" charset="0"/>
                <a:ea typeface="Anthropic Sans" pitchFamily="34" charset="-122"/>
                <a:cs typeface="Anthropic Sans" pitchFamily="34" charset="-120"/>
              </a:rPr>
              <a:t>teams using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E5D59"/>
                </a:solidFill>
                <a:latin typeface="Anthropic Sans" pitchFamily="34" charset="0"/>
                <a:ea typeface="Anthropic Sans" pitchFamily="34" charset="-122"/>
                <a:cs typeface="Anthropic Sans" pitchFamily="34" charset="-120"/>
              </a:rPr>
              <a:t>the SDK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182880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141413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3.4×</a:t>
            </a:r>
            <a:endParaRPr lang="en-US" sz="9000" dirty="0"/>
          </a:p>
        </p:txBody>
      </p:sp>
      <p:sp>
        <p:nvSpPr>
          <p:cNvPr id="10" name="Shape 8"/>
          <p:cNvSpPr/>
          <p:nvPr/>
        </p:nvSpPr>
        <p:spPr>
          <a:xfrm>
            <a:off x="4206240" y="3611880"/>
            <a:ext cx="914400" cy="6401"/>
          </a:xfrm>
          <a:prstGeom prst="rect">
            <a:avLst/>
          </a:prstGeom>
          <a:solidFill>
            <a:srgbClr val="E0DCD5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3703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E5D59"/>
                </a:solidFill>
                <a:latin typeface="Anthropic Sans" pitchFamily="34" charset="0"/>
                <a:ea typeface="Anthropic Sans" pitchFamily="34" charset="-122"/>
                <a:cs typeface="Anthropic Sans" pitchFamily="34" charset="-120"/>
              </a:rPr>
              <a:t>average time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E5D59"/>
                </a:solidFill>
                <a:latin typeface="Anthropic Sans" pitchFamily="34" charset="0"/>
                <a:ea typeface="Anthropic Sans" pitchFamily="34" charset="-122"/>
                <a:cs typeface="Anthropic Sans" pitchFamily="34" charset="-120"/>
              </a:rPr>
              <a:t>saved per task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182880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141413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94%</a:t>
            </a:r>
            <a:endParaRPr lang="en-US" sz="9000" dirty="0"/>
          </a:p>
        </p:txBody>
      </p:sp>
      <p:sp>
        <p:nvSpPr>
          <p:cNvPr id="13" name="Shape 11"/>
          <p:cNvSpPr/>
          <p:nvPr/>
        </p:nvSpPr>
        <p:spPr>
          <a:xfrm>
            <a:off x="6949440" y="3611880"/>
            <a:ext cx="914400" cy="6401"/>
          </a:xfrm>
          <a:prstGeom prst="rect">
            <a:avLst/>
          </a:prstGeom>
          <a:solidFill>
            <a:srgbClr val="E0DCD5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3703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E5D59"/>
                </a:solidFill>
                <a:latin typeface="Anthropic Sans" pitchFamily="34" charset="0"/>
                <a:ea typeface="Anthropic Sans" pitchFamily="34" charset="-122"/>
                <a:cs typeface="Anthropic Sans" pitchFamily="34" charset="-120"/>
              </a:rPr>
              <a:t>would recommend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E5D59"/>
                </a:solidFill>
                <a:latin typeface="Anthropic Sans" pitchFamily="34" charset="0"/>
                <a:ea typeface="Anthropic Sans" pitchFamily="34" charset="-122"/>
                <a:cs typeface="Anthropic Sans" pitchFamily="34" charset="-120"/>
              </a:rPr>
              <a:t>to a colleague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57"/>
                </a:solidFill>
                <a:latin typeface="Anthropic Sans" pitchFamily="34" charset="0"/>
                <a:ea typeface="Anthropic Sans" pitchFamily="34" charset="-122"/>
                <a:cs typeface="Anthropic Sans" pitchFamily="34" charset="-120"/>
              </a:rPr>
              <a:t>FIELD NOTES · TRADEOFFS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D59"/>
                </a:solidFill>
                <a:latin typeface="Anthropic Sans" pitchFamily="34" charset="0"/>
                <a:ea typeface="Anthropic Sans" pitchFamily="34" charset="-122"/>
                <a:cs typeface="Anthropic Sans" pitchFamily="34" charset="-120"/>
              </a:rPr>
              <a:t>4 /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1413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What worked, what didn't.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0DC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What worked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2057400"/>
            <a:ext cx="548640" cy="12802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28600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41413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Treat the model as an apprentice, not an oracle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41413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Make evals the spec, not an afterthought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41413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Onboard one team well before scaling out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41413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Keep prompts in version control, alongside code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3108960"/>
          </a:xfrm>
          <a:prstGeom prst="rect">
            <a:avLst/>
          </a:prstGeom>
          <a:solidFill>
            <a:srgbClr val="F0EEE6"/>
          </a:solidFill>
          <a:ln w="9525">
            <a:solidFill>
              <a:srgbClr val="E0DC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3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What didn't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983480" y="2057400"/>
            <a:ext cx="548640" cy="12802"/>
          </a:xfrm>
          <a:prstGeom prst="rect">
            <a:avLst/>
          </a:prstGeom>
          <a:solidFill>
            <a:srgbClr val="5E5D59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228600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E5D59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Building from scratch instead of using the SDK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E5D59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Optimizing for benchmarks instead of real tasks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E5D59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Rolling out without observability in place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E5D59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Skipping the boring eval suite to ship faster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57"/>
                </a:solidFill>
                <a:latin typeface="Anthropic Sans" pitchFamily="34" charset="0"/>
                <a:ea typeface="Anthropic Sans" pitchFamily="34" charset="-122"/>
                <a:cs typeface="Anthropic Sans" pitchFamily="34" charset="-120"/>
              </a:rPr>
              <a:t>FIELD NOTES · TIMELINE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D59"/>
                </a:solidFill>
                <a:latin typeface="Anthropic Sans" pitchFamily="34" charset="0"/>
                <a:ea typeface="Anthropic Sans" pitchFamily="34" charset="-122"/>
                <a:cs typeface="Anthropic Sans" pitchFamily="34" charset="-120"/>
              </a:rPr>
              <a:t>5 /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1413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Twelve months in five moments.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64208"/>
            <a:ext cx="164592" cy="1645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5216" y="1828800"/>
            <a:ext cx="9144" cy="493776"/>
          </a:xfrm>
          <a:prstGeom prst="rect">
            <a:avLst/>
          </a:prstGeom>
          <a:solidFill>
            <a:srgbClr val="E0DCD5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554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5D59"/>
                </a:solidFill>
                <a:latin typeface="Anthropic Sans" pitchFamily="34" charset="0"/>
                <a:ea typeface="Anthropic Sans" pitchFamily="34" charset="-122"/>
                <a:cs typeface="Anthropic Sans" pitchFamily="34" charset="-120"/>
              </a:rPr>
              <a:t>Apr 2025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286000" y="1554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First team adopts the SDK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286000" y="1847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D59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A four-person platform group ships their first agent in production.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67712"/>
            <a:ext cx="164592" cy="16459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85216" y="2432304"/>
            <a:ext cx="9144" cy="493776"/>
          </a:xfrm>
          <a:prstGeom prst="rect">
            <a:avLst/>
          </a:prstGeom>
          <a:solidFill>
            <a:srgbClr val="E0DCD5"/>
          </a:solidFill>
          <a:ln/>
        </p:spPr>
      </p:sp>
      <p:sp>
        <p:nvSpPr>
          <p:cNvPr id="12" name="Text 8"/>
          <p:cNvSpPr/>
          <p:nvPr/>
        </p:nvSpPr>
        <p:spPr>
          <a:xfrm>
            <a:off x="868680" y="215798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5D59"/>
                </a:solidFill>
                <a:latin typeface="Anthropic Sans" pitchFamily="34" charset="0"/>
                <a:ea typeface="Anthropic Sans" pitchFamily="34" charset="-122"/>
                <a:cs typeface="Anthropic Sans" pitchFamily="34" charset="-120"/>
              </a:rPr>
              <a:t>Jul 2025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286000" y="215798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Eval suite reaches 100 cases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286000" y="2450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D59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Coverage hits an inflection — the team trusts the regression bar.</a:t>
            </a:r>
            <a:endParaRPr lang="en-US" sz="1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871216"/>
            <a:ext cx="164592" cy="16459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85216" y="3035808"/>
            <a:ext cx="9144" cy="493776"/>
          </a:xfrm>
          <a:prstGeom prst="rect">
            <a:avLst/>
          </a:prstGeom>
          <a:solidFill>
            <a:srgbClr val="E0DCD5"/>
          </a:solidFill>
          <a:ln/>
        </p:spPr>
      </p:sp>
      <p:sp>
        <p:nvSpPr>
          <p:cNvPr id="17" name="Text 12"/>
          <p:cNvSpPr/>
          <p:nvPr/>
        </p:nvSpPr>
        <p:spPr>
          <a:xfrm>
            <a:off x="868680" y="27614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5D59"/>
                </a:solidFill>
                <a:latin typeface="Anthropic Sans" pitchFamily="34" charset="0"/>
                <a:ea typeface="Anthropic Sans" pitchFamily="34" charset="-122"/>
                <a:cs typeface="Anthropic Sans" pitchFamily="34" charset="-120"/>
              </a:rPr>
              <a:t>Oct 2025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2286000" y="27614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Scaled to seven teams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2286000" y="305409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D59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Onboarding playbook gets formal. First non-platform team joins.</a:t>
            </a:r>
            <a:endParaRPr lang="en-US" sz="11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474720"/>
            <a:ext cx="164592" cy="164592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85216" y="3639312"/>
            <a:ext cx="9144" cy="493776"/>
          </a:xfrm>
          <a:prstGeom prst="rect">
            <a:avLst/>
          </a:prstGeom>
          <a:solidFill>
            <a:srgbClr val="E0DCD5"/>
          </a:solidFill>
          <a:ln/>
        </p:spPr>
      </p:sp>
      <p:sp>
        <p:nvSpPr>
          <p:cNvPr id="22" name="Text 16"/>
          <p:cNvSpPr/>
          <p:nvPr/>
        </p:nvSpPr>
        <p:spPr>
          <a:xfrm>
            <a:off x="868680" y="33649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5D59"/>
                </a:solidFill>
                <a:latin typeface="Anthropic Sans" pitchFamily="34" charset="0"/>
                <a:ea typeface="Anthropic Sans" pitchFamily="34" charset="-122"/>
                <a:cs typeface="Anthropic Sans" pitchFamily="34" charset="-120"/>
              </a:rPr>
              <a:t>Jan 2026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2286000" y="33649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First model upgrade rollout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2286000" y="3657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D59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Evals catch a behavior regression before customers do. Patched in 36 hours.</a:t>
            </a:r>
            <a:endParaRPr lang="en-US" sz="11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078224"/>
            <a:ext cx="164592" cy="16459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68680" y="396849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5D59"/>
                </a:solidFill>
                <a:latin typeface="Anthropic Sans" pitchFamily="34" charset="0"/>
                <a:ea typeface="Anthropic Sans" pitchFamily="34" charset="-122"/>
                <a:cs typeface="Anthropic Sans" pitchFamily="34" charset="-120"/>
              </a:rPr>
              <a:t>Apr 2026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2286000" y="396849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Twelve teams across product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2286000" y="4261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D59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Field notes (this deck) compiled from interviews with each.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57"/>
                </a:solidFill>
                <a:latin typeface="Anthropic Sans" pitchFamily="34" charset="0"/>
                <a:ea typeface="Anthropic Sans" pitchFamily="34" charset="-122"/>
                <a:cs typeface="Anthropic Sans" pitchFamily="34" charset="-120"/>
              </a:rPr>
              <a:t>FIELD NOTES · CARRY-FORWARD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D59"/>
                </a:solidFill>
                <a:latin typeface="Anthropic Sans" pitchFamily="34" charset="0"/>
                <a:ea typeface="Anthropic Sans" pitchFamily="34" charset="-122"/>
                <a:cs typeface="Anthropic Sans" pitchFamily="34" charset="-120"/>
              </a:rPr>
              <a:t>6 / 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1413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Five things to carry forward.</a:t>
            </a:r>
            <a:endParaRPr lang="en-US" sz="2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2763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5544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3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Treat evals as the product spec, not an audit.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76272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1031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3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Onboard one team well before scaling out.</a:t>
            </a:r>
            <a:endParaRPr lang="en-US" sz="15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24912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6517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3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Version your prompts in the same repo as your code.</a:t>
            </a:r>
            <a:endParaRPr lang="en-US" sz="15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73552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97280" y="32004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3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Build observability before you need it.</a:t>
            </a:r>
            <a:endParaRPr lang="en-US" sz="15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22192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97280" y="37490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3"/>
                </a:solidFill>
                <a:latin typeface="Anthropic Serif" pitchFamily="34" charset="0"/>
                <a:ea typeface="Anthropic Serif" pitchFamily="34" charset="-122"/>
                <a:cs typeface="Anthropic Serif" pitchFamily="34" charset="-120"/>
              </a:rPr>
              <a:t>Field notes from real teams are worth more than benchmarks.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Anthropic sample deck</dc:title>
  <dc:subject>PptxGenJS Presentation</dc:subject>
  <dc:creator>slideware sample · Anthropic</dc:creator>
  <cp:lastModifiedBy>slideware sample · Anthropic</cp:lastModifiedBy>
  <cp:revision>1</cp:revision>
  <dcterms:created xsi:type="dcterms:W3CDTF">2026-05-20T20:48:01Z</dcterms:created>
  <dcterms:modified xsi:type="dcterms:W3CDTF">2026-05-20T20:48:01Z</dcterms:modified>
</cp:coreProperties>
</file>